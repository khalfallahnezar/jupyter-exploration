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Business</c:v>
                  </c:pt>
                  <c:pt idx="1">
                    <c:v>Entertainment</c:v>
                  </c:pt>
                  <c:pt idx="2">
                    <c:v>Politics</c:v>
                  </c:pt>
                  <c:pt idx="3">
                    <c:v>Sport</c:v>
                  </c:pt>
                  <c:pt idx="4">
                    <c:v>Tech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</c:v>
                </c:pt>
                <c:pt idx="1">
                  <c:v>0.96</c:v>
                </c:pt>
                <c:pt idx="2">
                  <c:v>0.97</c:v>
                </c:pt>
                <c:pt idx="3">
                  <c:v>0.99</c:v>
                </c:pt>
                <c:pt idx="4">
                  <c:v>0.97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7F9FE"/>
        </a:solidFill>
        <a:ln>
          <a:noFill/>
        </a:ln>
        <a:effectLst/>
      </c:spPr>
    </c:plotArea>
    <c:plotVisOnly val="1"/>
    <c:dispBlanksAs val="span"/>
  </c:chart>
  <c:spPr>
    <a:solidFill>
      <a:srgbClr val="F7F9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NewsBot 2.0 extends the midterm classification/sentiment/NER system into a full intelligence platform with topic modeling, summarization, semantic search, multilingual support, and a conversational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case for automating first-pass news triage: media monitoring, market intelligence, and editorial teams all currently rely on manual reading. This sets up why NewsBot 2.0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new modules built on top of the midterm's classification/sentiment/NER core: Content Analysis, Language Understanding, Multilingual Intelligence, Conversational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every module reads from one shared trained corpus (system.df) and is orchestrated through NewsBot2IntegratedSystem — same integration discipline as the midterm.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A in detail: confidence-scored classification (97% held-out accuracy), LDA/NMF topic discovery, rolling sentiment trends, and an entity co-occurrence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B in detail: extractive TextRank summarization, LSA-based semantic search, and auto-generated content briefs. Note the deliberate choice to avoid a downloaded transformer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C: language detection plus translation-to-English, with graceful fallback to original text if the translation service is unreachable — same fail-safe pattern as the midterm's dataset loader.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D: rule-based intent classification routes free-text questions to the right underlying capability. Demonstrate with a couple of live queries if presenting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a brand-new, unseen article analyzed end-to-end in one call — classification, sentiment, entities, summary, and a generated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numbers, all measured directly from the notebook run on 1,000 real BBC News articles — not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Per-category F1 scores on the held-out test split — all categories above 0.95, sport highest at 0.99.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before/after framing for the business audience: what manual triage costs vs. what NewsBot 2.0 automates.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of rigor: 25 total automated tests passing, held-out evaluation methodology, and an honest accounting of the system's current limitations.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next steps if this were taken further: richer embeddings, real timestamps, an offline translation fallback, and the optional web app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repo link and an invitation for questions. Full technical documentation, executive summary, and reflective journal accompany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NewsBot Intelligence System 2.0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NLP Integration &amp; Analysis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Nezar Khalfallah   |   ITAI 2373 — Natural Language Processing   |   Final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teams are drowning in volume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triage doesn't scale — analysts read articles one at a time to tag topic, sentiment, and entities.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3A3F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Monitoring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 coverage and track how often a brand is mentioned.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3A3F5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337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38862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sentiment around companies and markets in near real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10312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F7F9FE"/>
          </a:solidFill>
          <a:ln/>
          <a:effectLst>
            <a:outerShdw sx="100000" sy="100000" kx="0" ky="0" algn="bl" rotWithShape="0" blurRad="101600" dist="38100" dir="5400000">
              <a:srgbClr val="3A3F5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0" y="2468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3337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Teams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03920" y="388620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Auto-tag archives; power search and 'related articles' features.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auto-tagging to an intelligence platform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midterm classified, scored sentiment, and extracted entities. NewsBot 2.0 adds four new capability areas on top.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011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Content Analysis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classification, topic discovery, sentiment trends, entity relationships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3063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 &amp; Generation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0" y="30632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summarization, semantic search, auto-generated content briefs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114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Intelligence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0" y="41148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detection and translation-to-English for non-English sources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12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5166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Interface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0" y="51663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queries — ask NewsBot a question instead of writing code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reads from one shared, trained corpus and is orchestrated by NewsBot2IntegratedSystem.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80560" y="187452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480560" y="1874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NewsBot2IntegratedSystem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97380" y="2651760"/>
            <a:ext cx="0" cy="777240"/>
          </a:xfrm>
          <a:prstGeom prst="line">
            <a:avLst/>
          </a:prstGeom>
          <a:noFill/>
          <a:ln w="19050">
            <a:solidFill>
              <a:srgbClr val="AAB4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34290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6576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4297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Analysis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800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· Topics · Sentiment · Entities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9452" y="2651760"/>
            <a:ext cx="0" cy="777240"/>
          </a:xfrm>
          <a:prstGeom prst="line">
            <a:avLst/>
          </a:prstGeom>
          <a:noFill/>
          <a:ln w="19050">
            <a:solidFill>
              <a:srgbClr val="AAB4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6432" y="34290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85032" y="36576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3685032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39312" y="4297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39312" y="4800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 · Semantic Search · Enhancer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21524" y="2651760"/>
            <a:ext cx="0" cy="777240"/>
          </a:xfrm>
          <a:prstGeom prst="line">
            <a:avLst/>
          </a:prstGeom>
          <a:noFill/>
          <a:ln w="19050">
            <a:solidFill>
              <a:srgbClr val="AAB4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18504" y="34290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47104" y="36576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47104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01384" y="4297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01384" y="4800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Detect · Translation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483596" y="2651760"/>
            <a:ext cx="0" cy="777240"/>
          </a:xfrm>
          <a:prstGeom prst="line">
            <a:avLst/>
          </a:prstGeom>
          <a:noFill/>
          <a:ln w="19050">
            <a:solidFill>
              <a:srgbClr val="AAB4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0576" y="34290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09176" y="36576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9409176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63456" y="4297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363456" y="48006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 · Query Processing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Content Analysis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9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2763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AdvancedNewsClassifier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62763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 scores flag low-certainty articles for human review instead of silently mis-filing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9F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1635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TopicDiscoveryEngine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81635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LDA/NMF topic modeling surfaces recurring themes and sub-topics a flat classifier can't see.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9F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0507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SentimentEvolutionTracker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400507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Rolling-window sentiment trend, tracked per category.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9F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193792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EntityRelationshipMapper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5193792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NER + co-occurrence graph — see which people/orgs are structurally central to the corpus.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Understanding &amp; Generation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7F9F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2763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IntelligentSummarizer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627632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 TextRank summarization — ~3.4x compression with no risk of hallucinated facts.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7F9F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9923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SemanticSearchEngine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999232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LSA embeddings find conceptually related articles beyond exact keyword overlap.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7F9F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37083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ContentEnhancer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4370832"/>
            <a:ext cx="7223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outputs into a plain-language brief, key phrases, and related-reading suggestions.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7150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LSA over a downloaded transformer model — zero external model-hub dependency, fully reproducible offline.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 Intelligence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MultilingualProcessor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source language, then translates non-English articles to English before the rest of the pipeline runs — so one trained model handles any-language input.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F7F9F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566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degradation: if the translation service is unreachable, the pipeline falls back to the original text instead of failing.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73736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28600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[French] La banque centrale a relevé ses taux...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The central bank raised its rates...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[Spanish] El banco central subió las tasas...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The central bank raised interest rates...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Interface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NewsBot a question in plain English — no query language, no code.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F7F9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sport articles are there”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01000" y="196596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19659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-&gt; count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F7F9F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260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articles about the economy”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29260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29260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-&gt; search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F7F9F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8620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article 15”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0" y="388620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388620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-&gt; summarize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F7F9F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8463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is related to Google”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01000" y="484632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0" y="484632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-&gt; entity_lookup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router is appropriate here: the query vocabulary is small and well defined. It can sit in front of a trained intent classifier without changing any other component.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Full-Pipeline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brand-new, unseen article run through the entire system in one call: system.analyze_article(text)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ARTICLE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“Apple unveiled its latest iPhone lineup on Tuesday, featuring a faster chip and improved cameras. The technology giant reported that pre-orders exceeded expectations... CEO Tim Cook said the company remains confident in its growth strategy...”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82880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2011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242316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Category: Technology  (confidence 91%)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Sentiment: Positive  (0.86)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Entities: Apple, Tim Cook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 Apple unveiled its latest iPhone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lineup on Tuesday... pre-orders exceeded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expectations, with analysts predicting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holiday quarter revenue.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Brief: Classified as Technology (91%).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 tone is Positive. Key entities: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Apple, Tim Cook.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below comes from an actual run of the notebook against 1,000 real BBC News articles.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146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held-out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(macro-F1 0.97)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21945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5146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11880" y="3703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topics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(LDA)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5146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3.4x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92240" y="3703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summarization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89720" y="219456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25146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25/25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372600" y="37033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Performance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F1-score, 20% stratified test split (200 articles)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37360"/>
          <a:ext cx="10607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Value: Before / After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7F9F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Analysts read every article by hand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Tagging is inconsistent across reviewers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069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visibility into emerging themes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Non-English sources need a separate process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NewsBot 2.0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97%-accurate auto-routing; only ~3% escalated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31089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Consistent, auditable classification + confidence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4069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Topic modeling surfaces themes automatically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5029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pipeline handles multilingual sources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Known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internal sanity checks (NewsBot2TestSuite) — 10/10 passing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 pytest unit + integration tests — 15/15 passing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Held-out 20% test split for classifier eval, not training data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5-fold cross-validation confirms stable macro-F1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3A3F55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554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No publish dates — 'evolution' features use document order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971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Semantic search uses LSA, not a transformer embedding model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38404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Translation depends on a live external service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92240" y="47091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Conversational interface is rule-based, not a trained NLU model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embeddings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LSA for sentence-transformers once a model-hub download is acceptable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54680" y="2423160"/>
            <a:ext cx="256032" cy="0"/>
          </a:xfrm>
          <a:prstGeom prst="line">
            <a:avLst/>
          </a:prstGeom>
          <a:noFill/>
          <a:ln w="19050">
            <a:solidFill>
              <a:srgbClr val="AAB4D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10712" y="1920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341071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10712" y="2697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news corpus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10712" y="329184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true time-series topic and sentiment trend tracking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16752" y="2423160"/>
            <a:ext cx="256032" cy="0"/>
          </a:xfrm>
          <a:prstGeom prst="line">
            <a:avLst/>
          </a:prstGeom>
          <a:noFill/>
          <a:ln w="19050">
            <a:solidFill>
              <a:srgbClr val="AAB4D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272784" y="1920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72784" y="2697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translation fallback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72784" y="329184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live-service dependency for multilingual processing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78824" y="2423160"/>
            <a:ext cx="256032" cy="0"/>
          </a:xfrm>
          <a:prstGeom prst="line">
            <a:avLst/>
          </a:prstGeom>
          <a:noFill/>
          <a:ln w="19050">
            <a:solidFill>
              <a:srgbClr val="AAB4D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134856" y="1920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913485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34856" y="2697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frontend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34856" y="329184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Flask-based UI wrapping the existing API (optional bonus)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 |  ITAI 2373 Final Project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NewsBot Intelligence System 2.0 — ready to pilot on a real, ongoing news stream.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github.com/khalfallahnezar/jupyter-exploration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2026-08-08T14:43:38Z</dcterms:created>
  <dcterms:modified xsi:type="dcterms:W3CDTF">2026-08-08T14:43:38Z</dcterms:modified>
</cp:coreProperties>
</file>